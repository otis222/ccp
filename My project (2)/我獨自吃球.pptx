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>
        <p:scale>
          <a:sx n="66" d="100"/>
          <a:sy n="66" d="100"/>
        </p:scale>
        <p:origin x="875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1C21FCF6-6B70-4786-A40D-6A72A4964E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8872B9-00A7-43D6-98E9-60D14427EF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7D5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C20C2E-C356-468C-AB92-527994704D02}"/>
              </a:ext>
            </a:extLst>
          </p:cNvPr>
          <p:cNvSpPr>
            <a:spLocks noGrp="1"/>
          </p:cNvSpPr>
          <p:nvPr/>
        </p:nvSpPr>
        <p:spPr>
          <a:xfrm>
            <a:off x="171450" y="0"/>
            <a:ext cx="57150" cy="6858000"/>
          </a:xfrm>
          <a:prstGeom prst="rect">
            <a:avLst/>
          </a:prstGeom>
          <a:solidFill>
            <a:srgbClr val="51E0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73E2B6-330E-4D88-815C-C82FEF63F076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7D5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7D5FF"/>
                </a:solidFill>
                <a:latin typeface="Microsoft JhengHei"/>
                <a:ea typeface="Microsoft JhengHei"/>
                <a:cs typeface="Microsoft JhengHei"/>
              </a:rPr>
              <a:t>Arduino × Unity 期末小專題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9770B1-F55E-428C-B738-A8B0DF68E34D}"/>
              </a:ext>
            </a:extLst>
          </p:cNvPr>
          <p:cNvSpPr>
            <a:spLocks noGrp="1"/>
          </p:cNvSpPr>
          <p:nvPr/>
        </p:nvSpPr>
        <p:spPr>
          <a:xfrm>
            <a:off x="533400" y="704850"/>
            <a:ext cx="9144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150" b="1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3150" b="1" dirty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我一人</a:t>
            </a:r>
            <a:r>
              <a:rPr lang="en-US" altLang="zh-TW" sz="3150" b="1" dirty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Arduino</a:t>
            </a:r>
            <a:r>
              <a:rPr lang="zh-TW" altLang="en-US" sz="3150" b="1" dirty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吃球</a:t>
            </a:r>
            <a:endParaRPr lang="en-US" altLang="zh-TW" sz="3150" b="1" dirty="0">
              <a:solidFill>
                <a:srgbClr val="F7FAF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17FA877-D749-4742-B014-AB7876DD32AA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9334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dirty="0" err="1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rPr>
              <a:t>實體雙按鈕控制器</a:t>
            </a:r>
            <a:r>
              <a:rPr sz="1500" b="0" dirty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rPr>
              <a:t> × Unity </a:t>
            </a:r>
            <a:r>
              <a:rPr sz="1500" b="0" dirty="0" err="1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rPr>
              <a:t>跑酷收集小遊戲</a:t>
            </a:r>
            <a:endParaRPr sz="1500" b="0" dirty="0">
              <a:solidFill>
                <a:srgbClr val="A9B8C6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EB60FF-2CAC-4C27-AA5F-803EE806E13C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57150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87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 dirty="0" err="1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玩家使用</a:t>
            </a:r>
            <a:r>
              <a:rPr sz="1875" b="0" dirty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 Arduino </a:t>
            </a:r>
            <a:r>
              <a:rPr sz="1875" b="0" dirty="0" err="1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控制角色左右移動與跳躍，在</a:t>
            </a:r>
            <a:r>
              <a:rPr sz="1875" b="0" dirty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 Unity </a:t>
            </a:r>
            <a:r>
              <a:rPr sz="1875" b="0" dirty="0" err="1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場景中收集</a:t>
            </a:r>
            <a:r>
              <a:rPr sz="1875" b="0" dirty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 8 </a:t>
            </a:r>
            <a:r>
              <a:rPr sz="1875" b="0" dirty="0" err="1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個能量核心、避開障礙物，最後抵達終點門</a:t>
            </a:r>
            <a:r>
              <a:rPr sz="1875" b="0" dirty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26D108-E89C-4C70-947C-4499A84DAA05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1257300" cy="323850"/>
          </a:xfrm>
          <a:prstGeom prst="rect">
            <a:avLst/>
          </a:prstGeom>
          <a:solidFill>
            <a:srgbClr val="27D5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E5CD8D-8A23-452E-A179-D87BDB9DA242}"/>
              </a:ext>
            </a:extLst>
          </p:cNvPr>
          <p:cNvSpPr>
            <a:spLocks noGrp="1"/>
          </p:cNvSpPr>
          <p:nvPr/>
        </p:nvSpPr>
        <p:spPr>
          <a:xfrm>
            <a:off x="685800" y="4010025"/>
            <a:ext cx="1257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018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01820"/>
                </a:solidFill>
                <a:latin typeface="Microsoft JhengHei"/>
                <a:ea typeface="Microsoft JhengHei"/>
                <a:cs typeface="Microsoft JhengHei"/>
              </a:rPr>
              <a:t>D2 左移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EBA1BB-6F6F-4A75-AFF0-686E25C80D84}"/>
              </a:ext>
            </a:extLst>
          </p:cNvPr>
          <p:cNvSpPr>
            <a:spLocks noGrp="1"/>
          </p:cNvSpPr>
          <p:nvPr/>
        </p:nvSpPr>
        <p:spPr>
          <a:xfrm>
            <a:off x="2152650" y="3981450"/>
            <a:ext cx="1257300" cy="323850"/>
          </a:xfrm>
          <a:prstGeom prst="rect">
            <a:avLst/>
          </a:prstGeom>
          <a:solidFill>
            <a:srgbClr val="51E0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C0BFB1-4742-4EBB-B19E-807703A6C2AB}"/>
              </a:ext>
            </a:extLst>
          </p:cNvPr>
          <p:cNvSpPr>
            <a:spLocks noGrp="1"/>
          </p:cNvSpPr>
          <p:nvPr/>
        </p:nvSpPr>
        <p:spPr>
          <a:xfrm>
            <a:off x="2152650" y="4010025"/>
            <a:ext cx="1257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018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01820"/>
                </a:solidFill>
                <a:latin typeface="Microsoft JhengHei"/>
                <a:ea typeface="Microsoft JhengHei"/>
                <a:cs typeface="Microsoft JhengHei"/>
              </a:rPr>
              <a:t>D3 右移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8A8FF4-ACC3-448E-8F39-B759B9C97F0A}"/>
              </a:ext>
            </a:extLst>
          </p:cNvPr>
          <p:cNvSpPr>
            <a:spLocks noGrp="1"/>
          </p:cNvSpPr>
          <p:nvPr/>
        </p:nvSpPr>
        <p:spPr>
          <a:xfrm>
            <a:off x="3619500" y="3981450"/>
            <a:ext cx="1257300" cy="323850"/>
          </a:xfrm>
          <a:prstGeom prst="rect">
            <a:avLst/>
          </a:prstGeom>
          <a:solidFill>
            <a:srgbClr val="FFCF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9D010BF-60C6-4DD6-9E7A-830000A8AF66}"/>
              </a:ext>
            </a:extLst>
          </p:cNvPr>
          <p:cNvSpPr>
            <a:spLocks noGrp="1"/>
          </p:cNvSpPr>
          <p:nvPr/>
        </p:nvSpPr>
        <p:spPr>
          <a:xfrm>
            <a:off x="3619500" y="4010025"/>
            <a:ext cx="1257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018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01820"/>
                </a:solidFill>
                <a:latin typeface="Microsoft JhengHei"/>
                <a:ea typeface="Microsoft JhengHei"/>
                <a:cs typeface="Microsoft JhengHei"/>
              </a:rPr>
              <a:t>D2+D3 跳躍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20F9EB6-F982-4FD6-A4EA-EF80C5D8F5A5}"/>
              </a:ext>
            </a:extLst>
          </p:cNvPr>
          <p:cNvSpPr>
            <a:spLocks noGrp="1"/>
          </p:cNvSpPr>
          <p:nvPr/>
        </p:nvSpPr>
        <p:spPr>
          <a:xfrm>
            <a:off x="5086350" y="3981450"/>
            <a:ext cx="1257300" cy="323850"/>
          </a:xfrm>
          <a:prstGeom prst="rect">
            <a:avLst/>
          </a:prstGeom>
          <a:solidFill>
            <a:srgbClr val="A98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A9F30A8-0967-4FE6-A3E0-1A00886E1244}"/>
              </a:ext>
            </a:extLst>
          </p:cNvPr>
          <p:cNvSpPr>
            <a:spLocks noGrp="1"/>
          </p:cNvSpPr>
          <p:nvPr/>
        </p:nvSpPr>
        <p:spPr>
          <a:xfrm>
            <a:off x="5086350" y="4010025"/>
            <a:ext cx="1257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018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01820"/>
                </a:solidFill>
                <a:latin typeface="Microsoft JhengHei"/>
                <a:ea typeface="Microsoft JhengHei"/>
                <a:cs typeface="Microsoft JhengHei"/>
              </a:rPr>
              <a:t>D8 蜂鳴器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8F1C35B-6308-4143-869B-92C438779448}"/>
              </a:ext>
            </a:extLst>
          </p:cNvPr>
          <p:cNvSpPr>
            <a:spLocks noGrp="1"/>
          </p:cNvSpPr>
          <p:nvPr/>
        </p:nvSpPr>
        <p:spPr>
          <a:xfrm>
            <a:off x="7810500" y="2895600"/>
            <a:ext cx="18478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9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endParaRPr sz="1950" b="1" dirty="0">
              <a:solidFill>
                <a:srgbClr val="F7FAF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DA17EAC-47C1-43EC-8130-0B22F5BCC0BC}"/>
              </a:ext>
            </a:extLst>
          </p:cNvPr>
          <p:cNvSpPr>
            <a:spLocks noGrp="1"/>
          </p:cNvSpPr>
          <p:nvPr/>
        </p:nvSpPr>
        <p:spPr>
          <a:xfrm>
            <a:off x="6781800" y="5143500"/>
            <a:ext cx="3905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defRPr>
            </a:pPr>
            <a:endParaRPr sz="1500" b="0" dirty="0">
              <a:solidFill>
                <a:srgbClr val="A9B8C6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43F72A-0F4B-47CA-BF79-1CD9C825D6E2}"/>
              </a:ext>
            </a:extLst>
          </p:cNvPr>
          <p:cNvSpPr>
            <a:spLocks noGrp="1"/>
          </p:cNvSpPr>
          <p:nvPr/>
        </p:nvSpPr>
        <p:spPr>
          <a:xfrm>
            <a:off x="10668000" y="6381750"/>
            <a:ext cx="762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A9B8C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1A7B7E2-4339-7B1C-81D2-98E54D59E162}"/>
              </a:ext>
            </a:extLst>
          </p:cNvPr>
          <p:cNvSpPr>
            <a:spLocks noGrp="1"/>
          </p:cNvSpPr>
          <p:nvPr/>
        </p:nvSpPr>
        <p:spPr>
          <a:xfrm>
            <a:off x="762000" y="5095875"/>
            <a:ext cx="9144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150" b="1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3150" b="1" dirty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V2b22</a:t>
            </a:r>
            <a:r>
              <a:rPr lang="zh-TW" altLang="en-US" sz="3150" b="1" dirty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葉俸瑜</a:t>
            </a:r>
            <a:endParaRPr lang="en-US" altLang="zh-TW" sz="3150" b="1" dirty="0">
              <a:solidFill>
                <a:srgbClr val="F7FAF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F8A255E0-6979-0B5A-6B68-AD6CDFB2D9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647" y="545570"/>
            <a:ext cx="3448448" cy="459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0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50E5FB48-6A7E-45F8-A31F-A14EAAC7E0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59A2B7D-3CD4-4987-BEC0-71D824CF9A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7D5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97A7442-89BF-4E36-8B84-6779AB16C7AB}"/>
              </a:ext>
            </a:extLst>
          </p:cNvPr>
          <p:cNvSpPr>
            <a:spLocks noGrp="1"/>
          </p:cNvSpPr>
          <p:nvPr/>
        </p:nvSpPr>
        <p:spPr>
          <a:xfrm>
            <a:off x="171450" y="0"/>
            <a:ext cx="57150" cy="6858000"/>
          </a:xfrm>
          <a:prstGeom prst="rect">
            <a:avLst/>
          </a:prstGeom>
          <a:solidFill>
            <a:srgbClr val="51E0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39ADC1-EDC2-4DC8-AD46-DF51712F4D66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7D5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7D5FF"/>
                </a:solidFill>
                <a:latin typeface="Microsoft JhengHei"/>
                <a:ea typeface="Microsoft JhengHei"/>
                <a:cs typeface="Microsoft JhengHei"/>
              </a:rPr>
              <a:t>作品介紹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D88C99-A9BE-40C6-9614-549EDC4AF19E}"/>
              </a:ext>
            </a:extLst>
          </p:cNvPr>
          <p:cNvSpPr>
            <a:spLocks noGrp="1"/>
          </p:cNvSpPr>
          <p:nvPr/>
        </p:nvSpPr>
        <p:spPr>
          <a:xfrm>
            <a:off x="533400" y="704850"/>
            <a:ext cx="9144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一個可展示的實體控制跑酷 prototype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76EE98-5014-4F4A-92D2-732E9C5D0A62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9334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dirty="0" err="1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rPr>
              <a:t>作品名稱、玩法與</a:t>
            </a:r>
            <a:r>
              <a:rPr sz="1500" b="0" dirty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rPr>
              <a:t> Arduino </a:t>
            </a:r>
            <a:r>
              <a:rPr sz="1500" b="0" dirty="0" err="1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rPr>
              <a:t>控制器用途</a:t>
            </a:r>
            <a:endParaRPr sz="1500" b="0" dirty="0">
              <a:solidFill>
                <a:srgbClr val="A9B8C6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B81F4B-FF14-460D-87C5-6D765D65722C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3143250" cy="2333625"/>
          </a:xfrm>
          <a:prstGeom prst="rect">
            <a:avLst/>
          </a:prstGeom>
          <a:solidFill>
            <a:srgbClr val="172331"/>
          </a:solidFill>
          <a:ln w="13335">
            <a:solidFill>
              <a:srgbClr val="27D5FF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46CC58-E710-4623-AFEA-883335109B3E}"/>
              </a:ext>
            </a:extLst>
          </p:cNvPr>
          <p:cNvSpPr>
            <a:spLocks noGrp="1"/>
          </p:cNvSpPr>
          <p:nvPr/>
        </p:nvSpPr>
        <p:spPr>
          <a:xfrm>
            <a:off x="876300" y="24003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7D5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7D5FF"/>
                </a:solidFill>
                <a:latin typeface="Microsoft JhengHei"/>
                <a:ea typeface="Microsoft JhengHei"/>
                <a:cs typeface="Microsoft JhengHei"/>
              </a:rPr>
              <a:t>遊戲目標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4D76356-AE61-4224-BA5D-18E4D0B16A18}"/>
              </a:ext>
            </a:extLst>
          </p:cNvPr>
          <p:cNvSpPr>
            <a:spLocks noGrp="1"/>
          </p:cNvSpPr>
          <p:nvPr/>
        </p:nvSpPr>
        <p:spPr>
          <a:xfrm>
            <a:off x="857250" y="2895600"/>
            <a:ext cx="2714625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8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收集 8 個黃色能量核心，避開紅色障礙物，最後進入綠色終點門。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2668D6-1FDC-4AB0-AC4B-017E63700273}"/>
              </a:ext>
            </a:extLst>
          </p:cNvPr>
          <p:cNvSpPr>
            <a:spLocks noGrp="1"/>
          </p:cNvSpPr>
          <p:nvPr/>
        </p:nvSpPr>
        <p:spPr>
          <a:xfrm>
            <a:off x="4381500" y="2190750"/>
            <a:ext cx="3143250" cy="2333625"/>
          </a:xfrm>
          <a:prstGeom prst="rect">
            <a:avLst/>
          </a:prstGeom>
          <a:solidFill>
            <a:srgbClr val="172331"/>
          </a:solidFill>
          <a:ln w="13335">
            <a:solidFill>
              <a:srgbClr val="51E08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9D169AF-E6A8-4983-9163-7C69CDB8FC57}"/>
              </a:ext>
            </a:extLst>
          </p:cNvPr>
          <p:cNvSpPr>
            <a:spLocks noGrp="1"/>
          </p:cNvSpPr>
          <p:nvPr/>
        </p:nvSpPr>
        <p:spPr>
          <a:xfrm>
            <a:off x="4591050" y="24003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51E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1E08A"/>
                </a:solidFill>
                <a:latin typeface="Microsoft JhengHei"/>
                <a:ea typeface="Microsoft JhengHei"/>
                <a:cs typeface="Microsoft JhengHei"/>
              </a:rPr>
              <a:t>控制方式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896D118-BD02-46A2-BB35-66090062A391}"/>
              </a:ext>
            </a:extLst>
          </p:cNvPr>
          <p:cNvSpPr>
            <a:spLocks noGrp="1"/>
          </p:cNvSpPr>
          <p:nvPr/>
        </p:nvSpPr>
        <p:spPr>
          <a:xfrm>
            <a:off x="4572000" y="2895600"/>
            <a:ext cx="2714625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8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D2 控制左移、D3 控制右移；兩顆同時按下觸發跳躍。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46E6093-9AF4-49DE-B060-2B97F98DC23D}"/>
              </a:ext>
            </a:extLst>
          </p:cNvPr>
          <p:cNvSpPr>
            <a:spLocks noGrp="1"/>
          </p:cNvSpPr>
          <p:nvPr/>
        </p:nvSpPr>
        <p:spPr>
          <a:xfrm>
            <a:off x="8096250" y="2190750"/>
            <a:ext cx="3143250" cy="2333625"/>
          </a:xfrm>
          <a:prstGeom prst="rect">
            <a:avLst/>
          </a:prstGeom>
          <a:solidFill>
            <a:srgbClr val="172331"/>
          </a:solidFill>
          <a:ln w="13335">
            <a:solidFill>
              <a:srgbClr val="FFCF5A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B2D971-B204-4052-8632-EBDE77176098}"/>
              </a:ext>
            </a:extLst>
          </p:cNvPr>
          <p:cNvSpPr>
            <a:spLocks noGrp="1"/>
          </p:cNvSpPr>
          <p:nvPr/>
        </p:nvSpPr>
        <p:spPr>
          <a:xfrm>
            <a:off x="8305800" y="24003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CF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CF5A"/>
                </a:solidFill>
                <a:latin typeface="Microsoft JhengHei"/>
                <a:ea typeface="Microsoft JhengHei"/>
                <a:cs typeface="Microsoft JhengHei"/>
              </a:rPr>
              <a:t>回饋效果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A92F44-433A-4B8E-9EC4-D8390740A6C1}"/>
              </a:ext>
            </a:extLst>
          </p:cNvPr>
          <p:cNvSpPr>
            <a:spLocks noGrp="1"/>
          </p:cNvSpPr>
          <p:nvPr/>
        </p:nvSpPr>
        <p:spPr>
          <a:xfrm>
            <a:off x="8286750" y="2895600"/>
            <a:ext cx="2714625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8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Unity 依照遊戲狀態回傳訊號，控制內建 LED 與 D8 蜂鳴器聲音。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BD80F47-4E49-4E2A-8278-3C03C52A391A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10096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650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rPr>
              <a:t>展示時觀眾可以同時看到：手按控制器、Unity 角色即時移動、勝敗事件觸發聲光回饋。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975314B-AC15-46A0-9F91-125BC8572C16}"/>
              </a:ext>
            </a:extLst>
          </p:cNvPr>
          <p:cNvSpPr>
            <a:spLocks noGrp="1"/>
          </p:cNvSpPr>
          <p:nvPr/>
        </p:nvSpPr>
        <p:spPr>
          <a:xfrm>
            <a:off x="10668000" y="6381750"/>
            <a:ext cx="762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A9B8C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09436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479AD016-BDD9-48E6-9410-0C7594EE9F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82ED673-A247-4C84-8477-3D76CABBB8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7D5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A7C36D-B5B1-417C-B5E3-70B2B8B8FB5E}"/>
              </a:ext>
            </a:extLst>
          </p:cNvPr>
          <p:cNvSpPr>
            <a:spLocks noGrp="1"/>
          </p:cNvSpPr>
          <p:nvPr/>
        </p:nvSpPr>
        <p:spPr>
          <a:xfrm>
            <a:off x="171450" y="0"/>
            <a:ext cx="57150" cy="6858000"/>
          </a:xfrm>
          <a:prstGeom prst="rect">
            <a:avLst/>
          </a:prstGeom>
          <a:solidFill>
            <a:srgbClr val="51E0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A6EE1B-4F36-4E67-90F6-8B4A7EB34CED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7D5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7D5FF"/>
                </a:solidFill>
                <a:latin typeface="Microsoft JhengHei"/>
                <a:ea typeface="Microsoft JhengHei"/>
                <a:cs typeface="Microsoft JhengHei"/>
              </a:rPr>
              <a:t>玩法流程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2E57F6A-5D24-4080-A613-500F68753ABD}"/>
              </a:ext>
            </a:extLst>
          </p:cNvPr>
          <p:cNvSpPr>
            <a:spLocks noGrp="1"/>
          </p:cNvSpPr>
          <p:nvPr/>
        </p:nvSpPr>
        <p:spPr>
          <a:xfrm>
            <a:off x="533400" y="704850"/>
            <a:ext cx="9144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從按鈕操作到勝敗流程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C226135-4D5A-4ABB-BDE2-40B1E2D6A877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9334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defRPr>
            </a:pPr>
            <a:endParaRPr sz="1500" b="0" dirty="0">
              <a:solidFill>
                <a:srgbClr val="A9B8C6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AF480B-BEB7-4E2F-A85F-F05668196F1C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819150" cy="819150"/>
          </a:xfrm>
          <a:prstGeom prst="rect">
            <a:avLst/>
          </a:prstGeom>
          <a:solidFill>
            <a:srgbClr val="27D5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3E24B4-4E3E-419C-A8FB-438E0BA4BC9F}"/>
              </a:ext>
            </a:extLst>
          </p:cNvPr>
          <p:cNvSpPr>
            <a:spLocks noGrp="1"/>
          </p:cNvSpPr>
          <p:nvPr/>
        </p:nvSpPr>
        <p:spPr>
          <a:xfrm>
            <a:off x="857250" y="2552700"/>
            <a:ext cx="819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7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36E4C1-9952-4D0C-BAB0-EE7F9342599B}"/>
              </a:ext>
            </a:extLst>
          </p:cNvPr>
          <p:cNvSpPr>
            <a:spLocks noGrp="1"/>
          </p:cNvSpPr>
          <p:nvPr/>
        </p:nvSpPr>
        <p:spPr>
          <a:xfrm>
            <a:off x="857250" y="348615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7D5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7D5FF"/>
                </a:solidFill>
                <a:latin typeface="Microsoft JhengHei"/>
                <a:ea typeface="Microsoft JhengHei"/>
                <a:cs typeface="Microsoft JhengHei"/>
              </a:rPr>
              <a:t>連線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AE8DB21-18DA-40D6-87D7-712C32B97474}"/>
              </a:ext>
            </a:extLst>
          </p:cNvPr>
          <p:cNvSpPr>
            <a:spLocks noGrp="1"/>
          </p:cNvSpPr>
          <p:nvPr/>
        </p:nvSpPr>
        <p:spPr>
          <a:xfrm>
            <a:off x="819150" y="3905250"/>
            <a:ext cx="2095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Unity 連上 COM7，開始讀取 Serial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036071-8619-4910-A032-9CEC42FB9DF6}"/>
              </a:ext>
            </a:extLst>
          </p:cNvPr>
          <p:cNvSpPr>
            <a:spLocks noGrp="1"/>
          </p:cNvSpPr>
          <p:nvPr/>
        </p:nvSpPr>
        <p:spPr>
          <a:xfrm>
            <a:off x="1924050" y="2762250"/>
            <a:ext cx="1504950" cy="66675"/>
          </a:xfrm>
          <a:prstGeom prst="rect">
            <a:avLst/>
          </a:prstGeom>
          <a:solidFill>
            <a:srgbClr val="3146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A40C5DB-96EB-48AD-B645-6AB2FE5D4395}"/>
              </a:ext>
            </a:extLst>
          </p:cNvPr>
          <p:cNvSpPr>
            <a:spLocks noGrp="1"/>
          </p:cNvSpPr>
          <p:nvPr/>
        </p:nvSpPr>
        <p:spPr>
          <a:xfrm>
            <a:off x="3619500" y="2381250"/>
            <a:ext cx="819150" cy="819150"/>
          </a:xfrm>
          <a:prstGeom prst="rect">
            <a:avLst/>
          </a:prstGeom>
          <a:solidFill>
            <a:srgbClr val="51E0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E593367-349D-4AE6-A079-56C114120732}"/>
              </a:ext>
            </a:extLst>
          </p:cNvPr>
          <p:cNvSpPr>
            <a:spLocks noGrp="1"/>
          </p:cNvSpPr>
          <p:nvPr/>
        </p:nvSpPr>
        <p:spPr>
          <a:xfrm>
            <a:off x="3619500" y="2552700"/>
            <a:ext cx="819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7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8E3C04F-A5A6-4779-AC19-B612ACCB8FA2}"/>
              </a:ext>
            </a:extLst>
          </p:cNvPr>
          <p:cNvSpPr>
            <a:spLocks noGrp="1"/>
          </p:cNvSpPr>
          <p:nvPr/>
        </p:nvSpPr>
        <p:spPr>
          <a:xfrm>
            <a:off x="3619500" y="348615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51E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1E08A"/>
                </a:solidFill>
                <a:latin typeface="Microsoft JhengHei"/>
                <a:ea typeface="Microsoft JhengHei"/>
                <a:cs typeface="Microsoft JhengHei"/>
              </a:rPr>
              <a:t>操作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E2EC14-94C4-4E0B-9F7E-06376C96F798}"/>
              </a:ext>
            </a:extLst>
          </p:cNvPr>
          <p:cNvSpPr>
            <a:spLocks noGrp="1"/>
          </p:cNvSpPr>
          <p:nvPr/>
        </p:nvSpPr>
        <p:spPr>
          <a:xfrm>
            <a:off x="3581400" y="3905250"/>
            <a:ext cx="2095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D2 / D3 送出 A=-1 或 A=1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0F1B1D5-0367-4710-84D8-AF5F4816A97A}"/>
              </a:ext>
            </a:extLst>
          </p:cNvPr>
          <p:cNvSpPr>
            <a:spLocks noGrp="1"/>
          </p:cNvSpPr>
          <p:nvPr/>
        </p:nvSpPr>
        <p:spPr>
          <a:xfrm>
            <a:off x="4686300" y="2762250"/>
            <a:ext cx="1504950" cy="66675"/>
          </a:xfrm>
          <a:prstGeom prst="rect">
            <a:avLst/>
          </a:prstGeom>
          <a:solidFill>
            <a:srgbClr val="3146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4B34080-790B-4267-B283-7302980BDFDD}"/>
              </a:ext>
            </a:extLst>
          </p:cNvPr>
          <p:cNvSpPr>
            <a:spLocks noGrp="1"/>
          </p:cNvSpPr>
          <p:nvPr/>
        </p:nvSpPr>
        <p:spPr>
          <a:xfrm>
            <a:off x="6381750" y="2381250"/>
            <a:ext cx="819150" cy="819150"/>
          </a:xfrm>
          <a:prstGeom prst="rect">
            <a:avLst/>
          </a:prstGeom>
          <a:solidFill>
            <a:srgbClr val="FFCF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FABECEA-DD7A-48BE-A092-F9D3BF8FCF77}"/>
              </a:ext>
            </a:extLst>
          </p:cNvPr>
          <p:cNvSpPr>
            <a:spLocks noGrp="1"/>
          </p:cNvSpPr>
          <p:nvPr/>
        </p:nvSpPr>
        <p:spPr>
          <a:xfrm>
            <a:off x="6381750" y="2552700"/>
            <a:ext cx="819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7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0EC70A0-05DF-4800-A5AA-8018AF100258}"/>
              </a:ext>
            </a:extLst>
          </p:cNvPr>
          <p:cNvSpPr>
            <a:spLocks noGrp="1"/>
          </p:cNvSpPr>
          <p:nvPr/>
        </p:nvSpPr>
        <p:spPr>
          <a:xfrm>
            <a:off x="6381750" y="348615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CF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CF5A"/>
                </a:solidFill>
                <a:latin typeface="Microsoft JhengHei"/>
                <a:ea typeface="Microsoft JhengHei"/>
                <a:cs typeface="Microsoft JhengHei"/>
              </a:rPr>
              <a:t>收集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8B0AEE5-226E-45B7-8071-51A65337155D}"/>
              </a:ext>
            </a:extLst>
          </p:cNvPr>
          <p:cNvSpPr>
            <a:spLocks noGrp="1"/>
          </p:cNvSpPr>
          <p:nvPr/>
        </p:nvSpPr>
        <p:spPr>
          <a:xfrm>
            <a:off x="6343650" y="3905250"/>
            <a:ext cx="2095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碰到核心觸發 OnTriggerEnter 加分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572CF68-C22D-42C9-8757-87D7C9542A26}"/>
              </a:ext>
            </a:extLst>
          </p:cNvPr>
          <p:cNvSpPr>
            <a:spLocks noGrp="1"/>
          </p:cNvSpPr>
          <p:nvPr/>
        </p:nvSpPr>
        <p:spPr>
          <a:xfrm>
            <a:off x="7448550" y="2762250"/>
            <a:ext cx="1504950" cy="66675"/>
          </a:xfrm>
          <a:prstGeom prst="rect">
            <a:avLst/>
          </a:prstGeom>
          <a:solidFill>
            <a:srgbClr val="3146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FA7E044-6A33-450A-9489-DCE2DC53DA63}"/>
              </a:ext>
            </a:extLst>
          </p:cNvPr>
          <p:cNvSpPr>
            <a:spLocks noGrp="1"/>
          </p:cNvSpPr>
          <p:nvPr/>
        </p:nvSpPr>
        <p:spPr>
          <a:xfrm>
            <a:off x="9144000" y="2381250"/>
            <a:ext cx="819150" cy="819150"/>
          </a:xfrm>
          <a:prstGeom prst="rect">
            <a:avLst/>
          </a:prstGeom>
          <a:solidFill>
            <a:srgbClr val="A98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1311F94-543B-4F91-BD97-82BEFE661BBF}"/>
              </a:ext>
            </a:extLst>
          </p:cNvPr>
          <p:cNvSpPr>
            <a:spLocks noGrp="1"/>
          </p:cNvSpPr>
          <p:nvPr/>
        </p:nvSpPr>
        <p:spPr>
          <a:xfrm>
            <a:off x="9144000" y="2552700"/>
            <a:ext cx="819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7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C8D18D4-F4C4-40E9-A918-67DD4DDF2C4A}"/>
              </a:ext>
            </a:extLst>
          </p:cNvPr>
          <p:cNvSpPr>
            <a:spLocks noGrp="1"/>
          </p:cNvSpPr>
          <p:nvPr/>
        </p:nvSpPr>
        <p:spPr>
          <a:xfrm>
            <a:off x="9144000" y="348615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A98B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98BFF"/>
                </a:solidFill>
                <a:latin typeface="Microsoft JhengHei"/>
                <a:ea typeface="Microsoft JhengHei"/>
                <a:cs typeface="Microsoft JhengHei"/>
              </a:rPr>
              <a:t>判定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05FC71E-1488-4898-989F-6ED6D23FF8C4}"/>
              </a:ext>
            </a:extLst>
          </p:cNvPr>
          <p:cNvSpPr>
            <a:spLocks noGrp="1"/>
          </p:cNvSpPr>
          <p:nvPr/>
        </p:nvSpPr>
        <p:spPr>
          <a:xfrm>
            <a:off x="9105900" y="3905250"/>
            <a:ext cx="2095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全部收集後進入終點門獲勝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755633B-C5DE-4C07-BA53-1052166D21DD}"/>
              </a:ext>
            </a:extLst>
          </p:cNvPr>
          <p:cNvSpPr>
            <a:spLocks noGrp="1"/>
          </p:cNvSpPr>
          <p:nvPr/>
        </p:nvSpPr>
        <p:spPr>
          <a:xfrm>
            <a:off x="914400" y="5353050"/>
            <a:ext cx="9525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725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defRPr>
            </a:pPr>
            <a:endParaRPr sz="1725" b="0" dirty="0">
              <a:solidFill>
                <a:srgbClr val="A9B8C6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D3CEBF8-68F8-44BB-BAB5-A1466985B48E}"/>
              </a:ext>
            </a:extLst>
          </p:cNvPr>
          <p:cNvSpPr>
            <a:spLocks noGrp="1"/>
          </p:cNvSpPr>
          <p:nvPr/>
        </p:nvSpPr>
        <p:spPr>
          <a:xfrm>
            <a:off x="10668000" y="6381750"/>
            <a:ext cx="762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A9B8C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9974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EF29E3BD-A1F5-4A31-B2C1-4DAD6BBEB2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D8DA8A-00F1-49C8-9681-5DE761E740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7D5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6B1039-A75B-43EC-91B5-2D912A5C2CAB}"/>
              </a:ext>
            </a:extLst>
          </p:cNvPr>
          <p:cNvSpPr>
            <a:spLocks noGrp="1"/>
          </p:cNvSpPr>
          <p:nvPr/>
        </p:nvSpPr>
        <p:spPr>
          <a:xfrm>
            <a:off x="171450" y="0"/>
            <a:ext cx="57150" cy="6858000"/>
          </a:xfrm>
          <a:prstGeom prst="rect">
            <a:avLst/>
          </a:prstGeom>
          <a:solidFill>
            <a:srgbClr val="51E0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8D27D5-A464-4791-B79A-277EB39318F4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7D5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7D5FF"/>
                </a:solidFill>
                <a:latin typeface="Microsoft JhengHei"/>
                <a:ea typeface="Microsoft JhengHei"/>
                <a:cs typeface="Microsoft JhengHei"/>
              </a:rPr>
              <a:t>組員分工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8AC8EE-FCAC-4A04-96C8-B9AF61CF9FEA}"/>
              </a:ext>
            </a:extLst>
          </p:cNvPr>
          <p:cNvSpPr>
            <a:spLocks noGrp="1"/>
          </p:cNvSpPr>
          <p:nvPr/>
        </p:nvSpPr>
        <p:spPr>
          <a:xfrm>
            <a:off x="533400" y="704850"/>
            <a:ext cx="9144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3150" b="1" dirty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我一人獨自</a:t>
            </a:r>
            <a:r>
              <a:rPr lang="en-US" altLang="zh-TW" sz="3150" b="1" dirty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Arduino</a:t>
            </a:r>
            <a:endParaRPr sz="3150" b="1" dirty="0">
              <a:solidFill>
                <a:srgbClr val="F7FAF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9DDCB2-DA4C-448D-9AD9-87C39ACE3C97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9334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rPr>
              <a:t>每位組員負責的工作內容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37B087-031E-4067-95C5-0C8AA746042D}"/>
              </a:ext>
            </a:extLst>
          </p:cNvPr>
          <p:cNvSpPr>
            <a:spLocks noGrp="1"/>
          </p:cNvSpPr>
          <p:nvPr/>
        </p:nvSpPr>
        <p:spPr>
          <a:xfrm>
            <a:off x="857250" y="2209800"/>
            <a:ext cx="10287000" cy="914400"/>
          </a:xfrm>
          <a:prstGeom prst="rect">
            <a:avLst/>
          </a:prstGeom>
          <a:solidFill>
            <a:srgbClr val="121D28"/>
          </a:solidFill>
          <a:ln w="13335">
            <a:solidFill>
              <a:srgbClr val="27D5FF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E8BE31-1F43-45DB-8638-6165126EE3B5}"/>
              </a:ext>
            </a:extLst>
          </p:cNvPr>
          <p:cNvSpPr>
            <a:spLocks noGrp="1"/>
          </p:cNvSpPr>
          <p:nvPr/>
        </p:nvSpPr>
        <p:spPr>
          <a:xfrm>
            <a:off x="1143000" y="2362200"/>
            <a:ext cx="17621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200" b="1">
                <a:solidFill>
                  <a:srgbClr val="27D5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200" b="1" dirty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我</a:t>
            </a:r>
            <a:endParaRPr sz="1200" b="1" dirty="0">
              <a:solidFill>
                <a:srgbClr val="27D5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67058B-173D-4ED8-A8A7-D3C43B378C29}"/>
              </a:ext>
            </a:extLst>
          </p:cNvPr>
          <p:cNvSpPr>
            <a:spLocks noGrp="1"/>
          </p:cNvSpPr>
          <p:nvPr/>
        </p:nvSpPr>
        <p:spPr>
          <a:xfrm>
            <a:off x="3429000" y="232410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8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Arduino 控制器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250CC56-657A-4018-890B-C8289B5C8AD4}"/>
              </a:ext>
            </a:extLst>
          </p:cNvPr>
          <p:cNvSpPr>
            <a:spLocks noGrp="1"/>
          </p:cNvSpPr>
          <p:nvPr/>
        </p:nvSpPr>
        <p:spPr>
          <a:xfrm>
            <a:off x="5810250" y="2305050"/>
            <a:ext cx="495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425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rPr>
              <a:t>接線、按鈕測試、蜂鳴器、燒錄與 Serial Monitor 驗證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44A4480-BF6A-4C67-9A91-B94BD2B0230F}"/>
              </a:ext>
            </a:extLst>
          </p:cNvPr>
          <p:cNvSpPr>
            <a:spLocks noGrp="1"/>
          </p:cNvSpPr>
          <p:nvPr/>
        </p:nvSpPr>
        <p:spPr>
          <a:xfrm>
            <a:off x="857250" y="3467100"/>
            <a:ext cx="10287000" cy="914400"/>
          </a:xfrm>
          <a:prstGeom prst="rect">
            <a:avLst/>
          </a:prstGeom>
          <a:solidFill>
            <a:srgbClr val="121D28"/>
          </a:solidFill>
          <a:ln w="13335">
            <a:solidFill>
              <a:srgbClr val="51E08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E8D0C91-3E95-45D5-9FEC-222AA832F542}"/>
              </a:ext>
            </a:extLst>
          </p:cNvPr>
          <p:cNvSpPr>
            <a:spLocks noGrp="1"/>
          </p:cNvSpPr>
          <p:nvPr/>
        </p:nvSpPr>
        <p:spPr>
          <a:xfrm>
            <a:off x="1143000" y="3619500"/>
            <a:ext cx="17621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200" b="1">
                <a:solidFill>
                  <a:srgbClr val="51E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200" b="1" dirty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我</a:t>
            </a:r>
            <a:endParaRPr sz="1200" b="1" dirty="0">
              <a:solidFill>
                <a:srgbClr val="51E08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9B881B0-741C-413E-BF60-5762EF7AF6FE}"/>
              </a:ext>
            </a:extLst>
          </p:cNvPr>
          <p:cNvSpPr>
            <a:spLocks noGrp="1"/>
          </p:cNvSpPr>
          <p:nvPr/>
        </p:nvSpPr>
        <p:spPr>
          <a:xfrm>
            <a:off x="3429000" y="358140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8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Unity 遊戲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C6BDD1E-F936-4E01-A125-D1A85F373DD6}"/>
              </a:ext>
            </a:extLst>
          </p:cNvPr>
          <p:cNvSpPr>
            <a:spLocks noGrp="1"/>
          </p:cNvSpPr>
          <p:nvPr/>
        </p:nvSpPr>
        <p:spPr>
          <a:xfrm>
            <a:off x="5810250" y="3562350"/>
            <a:ext cx="495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425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rPr>
              <a:t>場景、角色控制、碰撞、收集物、障礙物、勝敗流程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EE8E12-11E6-48E4-9AAE-BD2F2F25CA6D}"/>
              </a:ext>
            </a:extLst>
          </p:cNvPr>
          <p:cNvSpPr>
            <a:spLocks noGrp="1"/>
          </p:cNvSpPr>
          <p:nvPr/>
        </p:nvSpPr>
        <p:spPr>
          <a:xfrm>
            <a:off x="857250" y="4724400"/>
            <a:ext cx="10287000" cy="914400"/>
          </a:xfrm>
          <a:prstGeom prst="rect">
            <a:avLst/>
          </a:prstGeom>
          <a:solidFill>
            <a:srgbClr val="121D28"/>
          </a:solidFill>
          <a:ln w="13335">
            <a:solidFill>
              <a:srgbClr val="FFCF5A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C7A715E-EEFE-4112-8404-216FF1F7603B}"/>
              </a:ext>
            </a:extLst>
          </p:cNvPr>
          <p:cNvSpPr>
            <a:spLocks noGrp="1"/>
          </p:cNvSpPr>
          <p:nvPr/>
        </p:nvSpPr>
        <p:spPr>
          <a:xfrm>
            <a:off x="1143000" y="4876800"/>
            <a:ext cx="17621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200" b="1">
                <a:solidFill>
                  <a:srgbClr val="FFCF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200" b="1" dirty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我</a:t>
            </a:r>
            <a:endParaRPr sz="1200" b="1" dirty="0">
              <a:solidFill>
                <a:srgbClr val="FFCF5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389F29D-D9CA-4894-89AA-643FD4AEBE39}"/>
              </a:ext>
            </a:extLst>
          </p:cNvPr>
          <p:cNvSpPr>
            <a:spLocks noGrp="1"/>
          </p:cNvSpPr>
          <p:nvPr/>
        </p:nvSpPr>
        <p:spPr>
          <a:xfrm>
            <a:off x="3429000" y="483870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8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整合與展示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4692E1-1038-438F-BBDD-1164B91691F6}"/>
              </a:ext>
            </a:extLst>
          </p:cNvPr>
          <p:cNvSpPr>
            <a:spLocks noGrp="1"/>
          </p:cNvSpPr>
          <p:nvPr/>
        </p:nvSpPr>
        <p:spPr>
          <a:xfrm>
            <a:off x="5810250" y="4819650"/>
            <a:ext cx="495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425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rPr>
              <a:t>COM7 連線、Serial 格式測試、側錄、簡報整理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A6A1991-3508-4735-913F-6C3EEAD3D0CE}"/>
              </a:ext>
            </a:extLst>
          </p:cNvPr>
          <p:cNvSpPr>
            <a:spLocks noGrp="1"/>
          </p:cNvSpPr>
          <p:nvPr/>
        </p:nvSpPr>
        <p:spPr>
          <a:xfrm>
            <a:off x="895350" y="6153150"/>
            <a:ext cx="857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350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rPr>
              <a:t>提示：若是個人作品，可把三列改成「硬體、Unity、整合/簡報」三個工作項目。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7390C13-92C2-4A54-8B08-2EF0C2A502B3}"/>
              </a:ext>
            </a:extLst>
          </p:cNvPr>
          <p:cNvSpPr>
            <a:spLocks noGrp="1"/>
          </p:cNvSpPr>
          <p:nvPr/>
        </p:nvSpPr>
        <p:spPr>
          <a:xfrm>
            <a:off x="10668000" y="6381750"/>
            <a:ext cx="762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A9B8C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16024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209AD41C-1590-40F7-9DDC-C4CC324B3A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2BD7D5-9DB4-4D77-AC04-E71B8276B3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7D5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406312-47F3-47D6-B061-2C4630A00BC9}"/>
              </a:ext>
            </a:extLst>
          </p:cNvPr>
          <p:cNvSpPr>
            <a:spLocks noGrp="1"/>
          </p:cNvSpPr>
          <p:nvPr/>
        </p:nvSpPr>
        <p:spPr>
          <a:xfrm>
            <a:off x="171450" y="0"/>
            <a:ext cx="57150" cy="6858000"/>
          </a:xfrm>
          <a:prstGeom prst="rect">
            <a:avLst/>
          </a:prstGeom>
          <a:solidFill>
            <a:srgbClr val="51E0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1DD690-E12B-4D92-AC2C-61A9B0E4C3F8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7D5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7D5FF"/>
                </a:solidFill>
                <a:latin typeface="Microsoft JhengHei"/>
                <a:ea typeface="Microsoft JhengHei"/>
                <a:cs typeface="Microsoft JhengHei"/>
              </a:rPr>
              <a:t>Arduino 實作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EC574C-53B3-471F-8CD5-CCDE4708845C}"/>
              </a:ext>
            </a:extLst>
          </p:cNvPr>
          <p:cNvSpPr>
            <a:spLocks noGrp="1"/>
          </p:cNvSpPr>
          <p:nvPr/>
        </p:nvSpPr>
        <p:spPr>
          <a:xfrm>
            <a:off x="533400" y="704850"/>
            <a:ext cx="9144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兩顆按鈕輸入 + LED / 蜂鳴器輸出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FED465-CFF1-4C9B-B178-DD2F1F35FC71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9334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rPr>
              <a:t>使用哪些輸入/輸出，控制器如何運作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8E6699-1E59-4F9A-BAA9-8B277E04A22C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4095750" cy="4191000"/>
          </a:xfrm>
          <a:prstGeom prst="rect">
            <a:avLst/>
          </a:prstGeom>
          <a:solidFill>
            <a:srgbClr val="172331"/>
          </a:solidFill>
          <a:ln w="13335">
            <a:solidFill>
              <a:srgbClr val="27D5FF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F6B8EF5-DED3-41ED-BE3A-51468D4679CF}"/>
              </a:ext>
            </a:extLst>
          </p:cNvPr>
          <p:cNvSpPr>
            <a:spLocks noGrp="1"/>
          </p:cNvSpPr>
          <p:nvPr/>
        </p:nvSpPr>
        <p:spPr>
          <a:xfrm>
            <a:off x="914400" y="22098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7D5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7D5FF"/>
                </a:solidFill>
                <a:latin typeface="Microsoft JhengHei"/>
                <a:ea typeface="Microsoft JhengHei"/>
                <a:cs typeface="Microsoft JhengHei"/>
              </a:rPr>
              <a:t>腳位配置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3394881-5278-4548-ABEB-7D3FB54BDA02}"/>
              </a:ext>
            </a:extLst>
          </p:cNvPr>
          <p:cNvSpPr>
            <a:spLocks noGrp="1"/>
          </p:cNvSpPr>
          <p:nvPr/>
        </p:nvSpPr>
        <p:spPr>
          <a:xfrm>
            <a:off x="895350" y="2714625"/>
            <a:ext cx="3429000" cy="2333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8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D2：左移按鈕</a:t>
            </a:r>
          </a:p>
          <a:p>
            <a:pPr algn="l">
              <a:defRPr sz="18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D3：右移按鈕</a:t>
            </a:r>
          </a:p>
          <a:p>
            <a:pPr algn="l">
              <a:defRPr sz="18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D2 + D3：跳躍</a:t>
            </a:r>
          </a:p>
          <a:p>
            <a:pPr algn="l">
              <a:defRPr sz="18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D8：蜂鳴器正極</a:t>
            </a:r>
          </a:p>
          <a:p>
            <a:pPr algn="l">
              <a:defRPr sz="18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D13：板上內建 LED</a:t>
            </a:r>
          </a:p>
          <a:p>
            <a:pPr algn="l">
              <a:defRPr sz="18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GND：按鈕與蜂鳴器共地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66FBA5-0A76-490A-936C-59842BED5536}"/>
              </a:ext>
            </a:extLst>
          </p:cNvPr>
          <p:cNvSpPr>
            <a:spLocks noGrp="1"/>
          </p:cNvSpPr>
          <p:nvPr/>
        </p:nvSpPr>
        <p:spPr>
          <a:xfrm>
            <a:off x="895350" y="5124450"/>
            <a:ext cx="342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rPr>
              <a:t>按鈕使用 INPUT_PULLUP，因此按下時讀到 LOW。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10150" y="1905000"/>
            <a:ext cx="3146612" cy="44577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98A36E2D-05BC-4891-B5AB-151930703665}"/>
              </a:ext>
            </a:extLst>
          </p:cNvPr>
          <p:cNvSpPr>
            <a:spLocks noGrp="1"/>
          </p:cNvSpPr>
          <p:nvPr/>
        </p:nvSpPr>
        <p:spPr>
          <a:xfrm>
            <a:off x="10668000" y="6381750"/>
            <a:ext cx="762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A9B8C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B42E845-C5B0-C91D-8389-D2575AF882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9362" y="1831521"/>
            <a:ext cx="3120926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685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3651BB10-5523-4CD1-8BDB-E8D976F669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50F214-EB41-4935-83DC-77806715F1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7D5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E09B16-BA1E-4B45-8D18-BC05774F7EEC}"/>
              </a:ext>
            </a:extLst>
          </p:cNvPr>
          <p:cNvSpPr>
            <a:spLocks noGrp="1"/>
          </p:cNvSpPr>
          <p:nvPr/>
        </p:nvSpPr>
        <p:spPr>
          <a:xfrm>
            <a:off x="171450" y="0"/>
            <a:ext cx="57150" cy="6858000"/>
          </a:xfrm>
          <a:prstGeom prst="rect">
            <a:avLst/>
          </a:prstGeom>
          <a:solidFill>
            <a:srgbClr val="51E0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1669B2-77F8-4689-9304-71271B726ACB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7D5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7D5FF"/>
                </a:solidFill>
                <a:latin typeface="Microsoft JhengHei"/>
                <a:ea typeface="Microsoft JhengHei"/>
                <a:cs typeface="Microsoft JhengHei"/>
              </a:rPr>
              <a:t>Unity 實作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5EFE27-7338-473D-A644-F6A03A351D5C}"/>
              </a:ext>
            </a:extLst>
          </p:cNvPr>
          <p:cNvSpPr>
            <a:spLocks noGrp="1"/>
          </p:cNvSpPr>
          <p:nvPr/>
        </p:nvSpPr>
        <p:spPr>
          <a:xfrm>
            <a:off x="533400" y="704850"/>
            <a:ext cx="9144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場景、角色控制、碰撞與動畫整合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FB908C-6A5E-4992-ABA2-5DBC7A5A2985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9334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rPr>
              <a:t>角色控制、碰撞、動畫、鏡頭等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40F036-80B2-4730-9FF1-F2441DDDAC10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4743450" cy="1428750"/>
          </a:xfrm>
          <a:prstGeom prst="rect">
            <a:avLst/>
          </a:prstGeom>
          <a:solidFill>
            <a:srgbClr val="121D28"/>
          </a:solidFill>
          <a:ln w="13335">
            <a:solidFill>
              <a:srgbClr val="27D5FF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7F8F85E-E460-4092-BC43-28430FBFDAAA}"/>
              </a:ext>
            </a:extLst>
          </p:cNvPr>
          <p:cNvSpPr>
            <a:spLocks noGrp="1"/>
          </p:cNvSpPr>
          <p:nvPr/>
        </p:nvSpPr>
        <p:spPr>
          <a:xfrm>
            <a:off x="990600" y="226695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7D5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7D5FF"/>
                </a:solidFill>
                <a:latin typeface="Microsoft JhengHei"/>
                <a:ea typeface="Microsoft JhengHei"/>
                <a:cs typeface="Microsoft JhengHei"/>
              </a:rPr>
              <a:t>角色控制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25E56C-2D1D-4559-8AC5-CADE7DC127FC}"/>
              </a:ext>
            </a:extLst>
          </p:cNvPr>
          <p:cNvSpPr>
            <a:spLocks noGrp="1"/>
          </p:cNvSpPr>
          <p:nvPr/>
        </p:nvSpPr>
        <p:spPr>
          <a:xfrm>
            <a:off x="990600" y="2686050"/>
            <a:ext cx="4191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4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SerialStarRunnerPlayer</a:t>
            </a:r>
          </a:p>
          <a:p>
            <a:pPr algn="l">
              <a:defRPr sz="14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讀取 Axis / Jump，控制 Rigidbody 左右、前進、跳躍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FE48DC-3D50-43CC-969C-8738E406F528}"/>
              </a:ext>
            </a:extLst>
          </p:cNvPr>
          <p:cNvSpPr>
            <a:spLocks noGrp="1"/>
          </p:cNvSpPr>
          <p:nvPr/>
        </p:nvSpPr>
        <p:spPr>
          <a:xfrm>
            <a:off x="6096000" y="2095500"/>
            <a:ext cx="4743450" cy="1428750"/>
          </a:xfrm>
          <a:prstGeom prst="rect">
            <a:avLst/>
          </a:prstGeom>
          <a:solidFill>
            <a:srgbClr val="121D28"/>
          </a:solidFill>
          <a:ln w="13335">
            <a:solidFill>
              <a:srgbClr val="51E08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1C53FDB-274C-4F59-98B6-EDDB26CBEFC5}"/>
              </a:ext>
            </a:extLst>
          </p:cNvPr>
          <p:cNvSpPr>
            <a:spLocks noGrp="1"/>
          </p:cNvSpPr>
          <p:nvPr/>
        </p:nvSpPr>
        <p:spPr>
          <a:xfrm>
            <a:off x="6305550" y="226695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51E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1E08A"/>
                </a:solidFill>
                <a:latin typeface="Microsoft JhengHei"/>
                <a:ea typeface="Microsoft JhengHei"/>
                <a:cs typeface="Microsoft JhengHei"/>
              </a:rPr>
              <a:t>互動物件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7B477A-1027-44F0-9D65-23EAF45390A3}"/>
              </a:ext>
            </a:extLst>
          </p:cNvPr>
          <p:cNvSpPr>
            <a:spLocks noGrp="1"/>
          </p:cNvSpPr>
          <p:nvPr/>
        </p:nvSpPr>
        <p:spPr>
          <a:xfrm>
            <a:off x="6305550" y="2686050"/>
            <a:ext cx="4191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4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SerialStarPickup / Hazard / Goal</a:t>
            </a:r>
          </a:p>
          <a:p>
            <a:pPr algn="l">
              <a:defRPr sz="14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OnTriggerEnter 處理收集、扣血、終點判定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E999FF-09FF-4EA8-8FAE-B1484B0C7282}"/>
              </a:ext>
            </a:extLst>
          </p:cNvPr>
          <p:cNvSpPr>
            <a:spLocks noGrp="1"/>
          </p:cNvSpPr>
          <p:nvPr/>
        </p:nvSpPr>
        <p:spPr>
          <a:xfrm>
            <a:off x="781050" y="4191000"/>
            <a:ext cx="4743450" cy="1428750"/>
          </a:xfrm>
          <a:prstGeom prst="rect">
            <a:avLst/>
          </a:prstGeom>
          <a:solidFill>
            <a:srgbClr val="121D28"/>
          </a:solidFill>
          <a:ln w="13335">
            <a:solidFill>
              <a:srgbClr val="FFCF5A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30B5D4-7A1B-479C-B130-66CCAA8A8F8B}"/>
              </a:ext>
            </a:extLst>
          </p:cNvPr>
          <p:cNvSpPr>
            <a:spLocks noGrp="1"/>
          </p:cNvSpPr>
          <p:nvPr/>
        </p:nvSpPr>
        <p:spPr>
          <a:xfrm>
            <a:off x="990600" y="436245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CF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CF5A"/>
                </a:solidFill>
                <a:latin typeface="Microsoft JhengHei"/>
                <a:ea typeface="Microsoft JhengHei"/>
                <a:cs typeface="Microsoft JhengHei"/>
              </a:rPr>
              <a:t>遊戲流程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D389B67-8EEA-40B1-9011-B51971FD61A3}"/>
              </a:ext>
            </a:extLst>
          </p:cNvPr>
          <p:cNvSpPr>
            <a:spLocks noGrp="1"/>
          </p:cNvSpPr>
          <p:nvPr/>
        </p:nvSpPr>
        <p:spPr>
          <a:xfrm>
            <a:off x="990600" y="4781550"/>
            <a:ext cx="4191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4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SerialStarRunnerGame</a:t>
            </a:r>
          </a:p>
          <a:p>
            <a:pPr algn="l">
              <a:defRPr sz="14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分數、倒數、HP、勝利/失敗、重新開始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B02645B-FCE5-4A50-A707-C72B1EEE06AD}"/>
              </a:ext>
            </a:extLst>
          </p:cNvPr>
          <p:cNvSpPr>
            <a:spLocks noGrp="1"/>
          </p:cNvSpPr>
          <p:nvPr/>
        </p:nvSpPr>
        <p:spPr>
          <a:xfrm>
            <a:off x="6096000" y="4191000"/>
            <a:ext cx="4743450" cy="1428750"/>
          </a:xfrm>
          <a:prstGeom prst="rect">
            <a:avLst/>
          </a:prstGeom>
          <a:solidFill>
            <a:srgbClr val="121D28"/>
          </a:solidFill>
          <a:ln w="13335">
            <a:solidFill>
              <a:srgbClr val="A98BFF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D9931E9-F729-4DBB-A936-A81F2C792DEC}"/>
              </a:ext>
            </a:extLst>
          </p:cNvPr>
          <p:cNvSpPr>
            <a:spLocks noGrp="1"/>
          </p:cNvSpPr>
          <p:nvPr/>
        </p:nvSpPr>
        <p:spPr>
          <a:xfrm>
            <a:off x="6305550" y="436245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A98B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98BFF"/>
                </a:solidFill>
                <a:latin typeface="Microsoft JhengHei"/>
                <a:ea typeface="Microsoft JhengHei"/>
                <a:cs typeface="Microsoft JhengHei"/>
              </a:rPr>
              <a:t>場景保存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8824364-6D19-4F1B-B0E0-8DEB142AE767}"/>
              </a:ext>
            </a:extLst>
          </p:cNvPr>
          <p:cNvSpPr>
            <a:spLocks noGrp="1"/>
          </p:cNvSpPr>
          <p:nvPr/>
        </p:nvSpPr>
        <p:spPr>
          <a:xfrm>
            <a:off x="6305550" y="4781550"/>
            <a:ext cx="4191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4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SerialStarRunnerBootstrap</a:t>
            </a:r>
          </a:p>
          <a:p>
            <a:pPr algn="l">
              <a:defRPr sz="14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自動建立並保存 SampleScene，不會 Play 後消失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AE35417-AE50-4813-B5CB-9CA523995384}"/>
              </a:ext>
            </a:extLst>
          </p:cNvPr>
          <p:cNvSpPr>
            <a:spLocks noGrp="1"/>
          </p:cNvSpPr>
          <p:nvPr/>
        </p:nvSpPr>
        <p:spPr>
          <a:xfrm>
            <a:off x="876300" y="6096000"/>
            <a:ext cx="1009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425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rPr>
              <a:t>目前也整合 X Bot 模型與 Idle / Walking / Jumping 動畫，讓展示比單純方塊/球體更完整。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32B8292-EA24-4C16-9760-1DE7E7575BB7}"/>
              </a:ext>
            </a:extLst>
          </p:cNvPr>
          <p:cNvSpPr>
            <a:spLocks noGrp="1"/>
          </p:cNvSpPr>
          <p:nvPr/>
        </p:nvSpPr>
        <p:spPr>
          <a:xfrm>
            <a:off x="10668000" y="6381750"/>
            <a:ext cx="762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A9B8C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31108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0AE5F9E1-E580-4087-A8BC-B27003CC06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00958FF-437B-4FA0-BFBA-F18BADEF10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7D5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565FB0-7636-4CA9-BC5E-155FE5CE35A6}"/>
              </a:ext>
            </a:extLst>
          </p:cNvPr>
          <p:cNvSpPr>
            <a:spLocks noGrp="1"/>
          </p:cNvSpPr>
          <p:nvPr/>
        </p:nvSpPr>
        <p:spPr>
          <a:xfrm>
            <a:off x="171450" y="0"/>
            <a:ext cx="57150" cy="6858000"/>
          </a:xfrm>
          <a:prstGeom prst="rect">
            <a:avLst/>
          </a:prstGeom>
          <a:solidFill>
            <a:srgbClr val="51E0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46041B-6406-4D4A-B6C8-D92F08FE8EAC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7D5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7D5FF"/>
                </a:solidFill>
                <a:latin typeface="Microsoft JhengHei"/>
                <a:ea typeface="Microsoft JhengHei"/>
                <a:cs typeface="Microsoft JhengHei"/>
              </a:rPr>
              <a:t>Arduino × Unity 整合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91B764-712F-4B50-847F-42AB289E0D04}"/>
              </a:ext>
            </a:extLst>
          </p:cNvPr>
          <p:cNvSpPr>
            <a:spLocks noGrp="1"/>
          </p:cNvSpPr>
          <p:nvPr/>
        </p:nvSpPr>
        <p:spPr>
          <a:xfrm>
            <a:off x="533400" y="704850"/>
            <a:ext cx="9144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Serial 是控制器與遊戲場景的橋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D0553B8-878D-4786-AD92-4EBE8B31F940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9334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rPr>
              <a:t>Arduino 如何透過 Serial 控制 Unity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4E1D7C-7487-492D-B251-73689B0B979A}"/>
              </a:ext>
            </a:extLst>
          </p:cNvPr>
          <p:cNvSpPr>
            <a:spLocks noGrp="1"/>
          </p:cNvSpPr>
          <p:nvPr/>
        </p:nvSpPr>
        <p:spPr>
          <a:xfrm>
            <a:off x="857250" y="2476500"/>
            <a:ext cx="1809750" cy="1104900"/>
          </a:xfrm>
          <a:prstGeom prst="rect">
            <a:avLst/>
          </a:prstGeom>
          <a:solidFill>
            <a:srgbClr val="121D28"/>
          </a:solidFill>
          <a:ln w="13335">
            <a:solidFill>
              <a:srgbClr val="27D5FF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A54B58D-98E9-46BA-AFF5-E0C8626BCFA4}"/>
              </a:ext>
            </a:extLst>
          </p:cNvPr>
          <p:cNvSpPr>
            <a:spLocks noGrp="1"/>
          </p:cNvSpPr>
          <p:nvPr/>
        </p:nvSpPr>
        <p:spPr>
          <a:xfrm>
            <a:off x="971550" y="2686050"/>
            <a:ext cx="1581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Arduino</a:t>
            </a:r>
          </a:p>
          <a:p>
            <a:pPr algn="l">
              <a:def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D2 / D3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67B6E5-A2B5-43B6-A281-5432EC3A8A5B}"/>
              </a:ext>
            </a:extLst>
          </p:cNvPr>
          <p:cNvSpPr>
            <a:spLocks noGrp="1"/>
          </p:cNvSpPr>
          <p:nvPr/>
        </p:nvSpPr>
        <p:spPr>
          <a:xfrm>
            <a:off x="2809875" y="2990850"/>
            <a:ext cx="762000" cy="76200"/>
          </a:xfrm>
          <a:prstGeom prst="rect">
            <a:avLst/>
          </a:prstGeom>
          <a:solidFill>
            <a:srgbClr val="3146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3B59F3-2023-4296-8314-2739383222FC}"/>
              </a:ext>
            </a:extLst>
          </p:cNvPr>
          <p:cNvSpPr>
            <a:spLocks noGrp="1"/>
          </p:cNvSpPr>
          <p:nvPr/>
        </p:nvSpPr>
        <p:spPr>
          <a:xfrm>
            <a:off x="3524250" y="2476500"/>
            <a:ext cx="1809750" cy="1104900"/>
          </a:xfrm>
          <a:prstGeom prst="rect">
            <a:avLst/>
          </a:prstGeom>
          <a:solidFill>
            <a:srgbClr val="121D28"/>
          </a:solidFill>
          <a:ln w="13335">
            <a:solidFill>
              <a:srgbClr val="51E08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736B14A-B165-4F67-9679-B08FA84967CF}"/>
              </a:ext>
            </a:extLst>
          </p:cNvPr>
          <p:cNvSpPr>
            <a:spLocks noGrp="1"/>
          </p:cNvSpPr>
          <p:nvPr/>
        </p:nvSpPr>
        <p:spPr>
          <a:xfrm>
            <a:off x="3638550" y="2686050"/>
            <a:ext cx="1581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Serial</a:t>
            </a:r>
          </a:p>
          <a:p>
            <a:pPr algn="l">
              <a:def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9600 baud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9DDB5B2-D163-4DAD-8B4F-2E657A01D6D3}"/>
              </a:ext>
            </a:extLst>
          </p:cNvPr>
          <p:cNvSpPr>
            <a:spLocks noGrp="1"/>
          </p:cNvSpPr>
          <p:nvPr/>
        </p:nvSpPr>
        <p:spPr>
          <a:xfrm>
            <a:off x="5476875" y="2990850"/>
            <a:ext cx="762000" cy="76200"/>
          </a:xfrm>
          <a:prstGeom prst="rect">
            <a:avLst/>
          </a:prstGeom>
          <a:solidFill>
            <a:srgbClr val="3146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017BF4E-C5B3-45E6-90D7-4D9C8E22D40E}"/>
              </a:ext>
            </a:extLst>
          </p:cNvPr>
          <p:cNvSpPr>
            <a:spLocks noGrp="1"/>
          </p:cNvSpPr>
          <p:nvPr/>
        </p:nvSpPr>
        <p:spPr>
          <a:xfrm>
            <a:off x="6191250" y="2476500"/>
            <a:ext cx="1809750" cy="1104900"/>
          </a:xfrm>
          <a:prstGeom prst="rect">
            <a:avLst/>
          </a:prstGeom>
          <a:solidFill>
            <a:srgbClr val="121D28"/>
          </a:solidFill>
          <a:ln w="13335">
            <a:solidFill>
              <a:srgbClr val="FFCF5A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BBBE459-8BC9-4998-90EB-EC66517AF9B9}"/>
              </a:ext>
            </a:extLst>
          </p:cNvPr>
          <p:cNvSpPr>
            <a:spLocks noGrp="1"/>
          </p:cNvSpPr>
          <p:nvPr/>
        </p:nvSpPr>
        <p:spPr>
          <a:xfrm>
            <a:off x="6305550" y="2686050"/>
            <a:ext cx="1581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Unity</a:t>
            </a:r>
          </a:p>
          <a:p>
            <a:pPr algn="l">
              <a:def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解析 A / J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950DDC0-58A9-4E98-A0D8-4004A3040E5B}"/>
              </a:ext>
            </a:extLst>
          </p:cNvPr>
          <p:cNvSpPr>
            <a:spLocks noGrp="1"/>
          </p:cNvSpPr>
          <p:nvPr/>
        </p:nvSpPr>
        <p:spPr>
          <a:xfrm>
            <a:off x="8143875" y="2990850"/>
            <a:ext cx="762000" cy="76200"/>
          </a:xfrm>
          <a:prstGeom prst="rect">
            <a:avLst/>
          </a:prstGeom>
          <a:solidFill>
            <a:srgbClr val="3146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3762CCF-1EC1-4B74-A454-EB6127E2DD17}"/>
              </a:ext>
            </a:extLst>
          </p:cNvPr>
          <p:cNvSpPr>
            <a:spLocks noGrp="1"/>
          </p:cNvSpPr>
          <p:nvPr/>
        </p:nvSpPr>
        <p:spPr>
          <a:xfrm>
            <a:off x="8858250" y="2476500"/>
            <a:ext cx="1809750" cy="1104900"/>
          </a:xfrm>
          <a:prstGeom prst="rect">
            <a:avLst/>
          </a:prstGeom>
          <a:solidFill>
            <a:srgbClr val="121D28"/>
          </a:solidFill>
          <a:ln w="13335">
            <a:solidFill>
              <a:srgbClr val="A98BFF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180A126-C2D4-47A2-91F0-77E1A7317A8C}"/>
              </a:ext>
            </a:extLst>
          </p:cNvPr>
          <p:cNvSpPr>
            <a:spLocks noGrp="1"/>
          </p:cNvSpPr>
          <p:nvPr/>
        </p:nvSpPr>
        <p:spPr>
          <a:xfrm>
            <a:off x="8972550" y="2686050"/>
            <a:ext cx="1581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遊戲事件</a:t>
            </a:r>
          </a:p>
          <a:p>
            <a:pPr algn="l">
              <a:def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LED / 蜂鳴器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F23CABA-0857-47F8-BC7C-B7E53F52A84B}"/>
              </a:ext>
            </a:extLst>
          </p:cNvPr>
          <p:cNvSpPr>
            <a:spLocks noGrp="1"/>
          </p:cNvSpPr>
          <p:nvPr/>
        </p:nvSpPr>
        <p:spPr>
          <a:xfrm>
            <a:off x="1009650" y="43434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7D5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7D5FF"/>
                </a:solidFill>
                <a:latin typeface="Microsoft JhengHei"/>
                <a:ea typeface="Microsoft JhengHei"/>
                <a:cs typeface="Microsoft JhengHei"/>
              </a:rPr>
              <a:t>Arduino → Unity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019471F-11B2-408A-8F65-A30DDDEECE14}"/>
              </a:ext>
            </a:extLst>
          </p:cNvPr>
          <p:cNvSpPr>
            <a:spLocks noGrp="1"/>
          </p:cNvSpPr>
          <p:nvPr/>
        </p:nvSpPr>
        <p:spPr>
          <a:xfrm>
            <a:off x="990600" y="4762500"/>
            <a:ext cx="44767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A=-1.00;J=0;D=0</a:t>
            </a:r>
          </a:p>
          <a:p>
            <a:pPr algn="l">
              <a:def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A=1.00;J=0;D=0</a:t>
            </a:r>
          </a:p>
          <a:p>
            <a:pPr algn="l">
              <a:def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A=0.00;J=1;D=0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B9A530C-FA72-452D-9DA6-A743BC5E5030}"/>
              </a:ext>
            </a:extLst>
          </p:cNvPr>
          <p:cNvSpPr>
            <a:spLocks noGrp="1"/>
          </p:cNvSpPr>
          <p:nvPr/>
        </p:nvSpPr>
        <p:spPr>
          <a:xfrm>
            <a:off x="6667500" y="43434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51E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1E08A"/>
                </a:solidFill>
                <a:latin typeface="Microsoft JhengHei"/>
                <a:ea typeface="Microsoft JhengHei"/>
                <a:cs typeface="Microsoft JhengHei"/>
              </a:rPr>
              <a:t>Unity → Arduino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5D21F65-3957-4E9D-8AB2-2E79B36BBEF0}"/>
              </a:ext>
            </a:extLst>
          </p:cNvPr>
          <p:cNvSpPr>
            <a:spLocks noGrp="1"/>
          </p:cNvSpPr>
          <p:nvPr/>
        </p:nvSpPr>
        <p:spPr>
          <a:xfrm>
            <a:off x="6648450" y="4762500"/>
            <a:ext cx="4000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LED:RUN / LED:HIT</a:t>
            </a:r>
          </a:p>
          <a:p>
            <a:pPr algn="l">
              <a:def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LED:WIN / LED:LOSE</a:t>
            </a:r>
          </a:p>
          <a:p>
            <a:pPr algn="l">
              <a:def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LED_ON / LED_OFF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39522A3-7C2D-4707-B2D2-B5BA529AF23F}"/>
              </a:ext>
            </a:extLst>
          </p:cNvPr>
          <p:cNvSpPr>
            <a:spLocks noGrp="1"/>
          </p:cNvSpPr>
          <p:nvPr/>
        </p:nvSpPr>
        <p:spPr>
          <a:xfrm>
            <a:off x="10668000" y="6381750"/>
            <a:ext cx="762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A9B8C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80523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FCBC94D0-F14A-48D3-BE4D-6FB25723E6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7A185FE-2979-4713-827F-475CCBE7F8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7D5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AC69122-83AE-4205-B09D-373E0243598B}"/>
              </a:ext>
            </a:extLst>
          </p:cNvPr>
          <p:cNvSpPr>
            <a:spLocks noGrp="1"/>
          </p:cNvSpPr>
          <p:nvPr/>
        </p:nvSpPr>
        <p:spPr>
          <a:xfrm>
            <a:off x="171450" y="0"/>
            <a:ext cx="57150" cy="6858000"/>
          </a:xfrm>
          <a:prstGeom prst="rect">
            <a:avLst/>
          </a:prstGeom>
          <a:solidFill>
            <a:srgbClr val="51E0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0EC4F1-A7E8-4257-A669-897A1C290EF3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7D5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7D5FF"/>
                </a:solidFill>
                <a:latin typeface="Microsoft JhengHei"/>
                <a:ea typeface="Microsoft JhengHei"/>
                <a:cs typeface="Microsoft JhengHei"/>
              </a:rPr>
              <a:t>問題與解決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656314-B842-4507-86F2-430B4EF42D4E}"/>
              </a:ext>
            </a:extLst>
          </p:cNvPr>
          <p:cNvSpPr>
            <a:spLocks noGrp="1"/>
          </p:cNvSpPr>
          <p:nvPr/>
        </p:nvSpPr>
        <p:spPr>
          <a:xfrm>
            <a:off x="533400" y="704850"/>
            <a:ext cx="9144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開發中遇到的問題與處理方式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4E4E4C-FD05-447E-B7EE-5B81BAF1CE4A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9334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A9B8C6"/>
                </a:solidFill>
                <a:latin typeface="Microsoft JhengHei"/>
                <a:ea typeface="Microsoft JhengHei"/>
                <a:cs typeface="Microsoft JhengHei"/>
              </a:rPr>
              <a:t>同時整理現場展示與側錄注意事項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5EB6F6-8083-4F8C-B941-8EA38B97AC38}"/>
              </a:ext>
            </a:extLst>
          </p:cNvPr>
          <p:cNvSpPr>
            <a:spLocks noGrp="1"/>
          </p:cNvSpPr>
          <p:nvPr/>
        </p:nvSpPr>
        <p:spPr>
          <a:xfrm>
            <a:off x="781050" y="2076450"/>
            <a:ext cx="10287000" cy="685800"/>
          </a:xfrm>
          <a:prstGeom prst="rect">
            <a:avLst/>
          </a:prstGeom>
          <a:solidFill>
            <a:srgbClr val="121D28"/>
          </a:solidFill>
          <a:ln w="13335">
            <a:solidFill>
              <a:srgbClr val="FF6B5F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1E07DE-A5E8-4E8D-ABFE-0A1125D86F23}"/>
              </a:ext>
            </a:extLst>
          </p:cNvPr>
          <p:cNvSpPr>
            <a:spLocks noGrp="1"/>
          </p:cNvSpPr>
          <p:nvPr/>
        </p:nvSpPr>
        <p:spPr>
          <a:xfrm>
            <a:off x="1047750" y="219075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6B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6B5F"/>
                </a:solidFill>
                <a:latin typeface="Microsoft JhengHei"/>
                <a:ea typeface="Microsoft JhengHei"/>
                <a:cs typeface="Microsoft JhengHei"/>
              </a:rPr>
              <a:t>COM port 被佔用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A0A9C59-A690-41DB-84CB-A465B527F1CA}"/>
              </a:ext>
            </a:extLst>
          </p:cNvPr>
          <p:cNvSpPr>
            <a:spLocks noGrp="1"/>
          </p:cNvSpPr>
          <p:nvPr/>
        </p:nvSpPr>
        <p:spPr>
          <a:xfrm>
            <a:off x="3638550" y="2171700"/>
            <a:ext cx="6953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4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Unity、Arduino IDE Serial Monitor 不能同時開 COM7；上傳前先停止 Play。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0D053B-7AE4-4D34-A1AF-E9AC1483D65E}"/>
              </a:ext>
            </a:extLst>
          </p:cNvPr>
          <p:cNvSpPr>
            <a:spLocks noGrp="1"/>
          </p:cNvSpPr>
          <p:nvPr/>
        </p:nvSpPr>
        <p:spPr>
          <a:xfrm>
            <a:off x="781050" y="2990850"/>
            <a:ext cx="10287000" cy="685800"/>
          </a:xfrm>
          <a:prstGeom prst="rect">
            <a:avLst/>
          </a:prstGeom>
          <a:solidFill>
            <a:srgbClr val="121D28"/>
          </a:solidFill>
          <a:ln w="13335">
            <a:solidFill>
              <a:srgbClr val="FFCF5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A4D48E8-B57F-43C4-AF4A-26069E0812A6}"/>
              </a:ext>
            </a:extLst>
          </p:cNvPr>
          <p:cNvSpPr>
            <a:spLocks noGrp="1"/>
          </p:cNvSpPr>
          <p:nvPr/>
        </p:nvSpPr>
        <p:spPr>
          <a:xfrm>
            <a:off x="1047750" y="310515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CF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CF5A"/>
                </a:solidFill>
                <a:latin typeface="Microsoft JhengHei"/>
                <a:ea typeface="Microsoft JhengHei"/>
                <a:cs typeface="Microsoft JhengHei"/>
              </a:rPr>
              <a:t>接線沒反應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85B441-C2EE-4E4A-A034-E9996CA56C18}"/>
              </a:ext>
            </a:extLst>
          </p:cNvPr>
          <p:cNvSpPr>
            <a:spLocks noGrp="1"/>
          </p:cNvSpPr>
          <p:nvPr/>
        </p:nvSpPr>
        <p:spPr>
          <a:xfrm>
            <a:off x="3638550" y="3086100"/>
            <a:ext cx="6953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4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先讓內建 L 燈當診斷：按鈕能讓 L 燈亮，再接 Unity。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236C65C-9D60-4870-8ED4-91692DD9BB0C}"/>
              </a:ext>
            </a:extLst>
          </p:cNvPr>
          <p:cNvSpPr>
            <a:spLocks noGrp="1"/>
          </p:cNvSpPr>
          <p:nvPr/>
        </p:nvSpPr>
        <p:spPr>
          <a:xfrm>
            <a:off x="781050" y="3905250"/>
            <a:ext cx="10287000" cy="685800"/>
          </a:xfrm>
          <a:prstGeom prst="rect">
            <a:avLst/>
          </a:prstGeom>
          <a:solidFill>
            <a:srgbClr val="121D28"/>
          </a:solidFill>
          <a:ln w="13335">
            <a:solidFill>
              <a:srgbClr val="FF6B5F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82E4905-5A86-4CD2-84B8-1D4CF81CBAD4}"/>
              </a:ext>
            </a:extLst>
          </p:cNvPr>
          <p:cNvSpPr>
            <a:spLocks noGrp="1"/>
          </p:cNvSpPr>
          <p:nvPr/>
        </p:nvSpPr>
        <p:spPr>
          <a:xfrm>
            <a:off x="1047750" y="401955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6B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6B5F"/>
                </a:solidFill>
                <a:latin typeface="Microsoft JhengHei"/>
                <a:ea typeface="Microsoft JhengHei"/>
                <a:cs typeface="Microsoft JhengHei"/>
              </a:rPr>
              <a:t>場景 Play 後消失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38C3DE9-7858-4D58-9921-0567EE47DD74}"/>
              </a:ext>
            </a:extLst>
          </p:cNvPr>
          <p:cNvSpPr>
            <a:spLocks noGrp="1"/>
          </p:cNvSpPr>
          <p:nvPr/>
        </p:nvSpPr>
        <p:spPr>
          <a:xfrm>
            <a:off x="3638550" y="4000500"/>
            <a:ext cx="6953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4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新增 Editor 工具，把 Serial Star Runner 儲存到 SampleScene。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D2FB89-F44C-4686-B90D-96AF7B479BB6}"/>
              </a:ext>
            </a:extLst>
          </p:cNvPr>
          <p:cNvSpPr>
            <a:spLocks noGrp="1"/>
          </p:cNvSpPr>
          <p:nvPr/>
        </p:nvSpPr>
        <p:spPr>
          <a:xfrm>
            <a:off x="781050" y="4819650"/>
            <a:ext cx="10287000" cy="685800"/>
          </a:xfrm>
          <a:prstGeom prst="rect">
            <a:avLst/>
          </a:prstGeom>
          <a:solidFill>
            <a:srgbClr val="121D28"/>
          </a:solidFill>
          <a:ln w="13335">
            <a:solidFill>
              <a:srgbClr val="FFCF5A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0818DB7-EEBC-48A7-804C-26D876909519}"/>
              </a:ext>
            </a:extLst>
          </p:cNvPr>
          <p:cNvSpPr>
            <a:spLocks noGrp="1"/>
          </p:cNvSpPr>
          <p:nvPr/>
        </p:nvSpPr>
        <p:spPr>
          <a:xfrm>
            <a:off x="1047750" y="493395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CF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CF5A"/>
                </a:solidFill>
                <a:latin typeface="Microsoft JhengHei"/>
                <a:ea typeface="Microsoft JhengHei"/>
                <a:cs typeface="Microsoft JhengHei"/>
              </a:rPr>
              <a:t>展示辨識度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05A0BA2-84D2-4D12-A5C0-7CB0FBB753EA}"/>
              </a:ext>
            </a:extLst>
          </p:cNvPr>
          <p:cNvSpPr>
            <a:spLocks noGrp="1"/>
          </p:cNvSpPr>
          <p:nvPr/>
        </p:nvSpPr>
        <p:spPr>
          <a:xfrm>
            <a:off x="3638550" y="4914900"/>
            <a:ext cx="6953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4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7FAFC"/>
                </a:solidFill>
                <a:latin typeface="Microsoft JhengHei"/>
                <a:ea typeface="Microsoft JhengHei"/>
                <a:cs typeface="Microsoft JhengHei"/>
              </a:rPr>
              <a:t>加入 X Bot 動畫、分數/HP/倒數、蜂鳴器與 LED 回饋。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0D13A6D-5C77-4114-8EAD-B5F69EE992C1}"/>
              </a:ext>
            </a:extLst>
          </p:cNvPr>
          <p:cNvSpPr>
            <a:spLocks noGrp="1"/>
          </p:cNvSpPr>
          <p:nvPr/>
        </p:nvSpPr>
        <p:spPr>
          <a:xfrm>
            <a:off x="10668000" y="6381750"/>
            <a:ext cx="762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A9B8C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7850577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453</Words>
  <Application>Microsoft Office PowerPoint</Application>
  <DocSecurity>0</DocSecurity>
  <PresentationFormat>宽屏</PresentationFormat>
  <Paragraphs>111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Microsoft JhengHei</vt:lpstr>
      <vt:lpstr>Aptos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橘 貓</cp:lastModifiedBy>
  <cp:revision>2</cp:revision>
  <dcterms:created xsi:type="dcterms:W3CDTF">2026-06-08T19:45:33Z</dcterms:created>
  <dcterms:modified xsi:type="dcterms:W3CDTF">2026-06-08T20:00:32Z</dcterms:modified>
</cp:coreProperties>
</file>